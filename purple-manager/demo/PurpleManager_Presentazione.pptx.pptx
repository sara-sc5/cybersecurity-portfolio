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onsolas Bold" charset="1" panose="020B0709020204030204"/>
      <p:regular r:id="rId18"/>
    </p:embeddedFont>
    <p:embeddedFont>
      <p:font typeface="Georgia" charset="1" panose="02040502050405020303"/>
      <p:regular r:id="rId19"/>
    </p:embeddedFont>
    <p:embeddedFont>
      <p:font typeface="Georgia Bold" charset="1" panose="02040802050405020203"/>
      <p:regular r:id="rId20"/>
    </p:embeddedFont>
    <p:embeddedFont>
      <p:font typeface="Trebuchet MS" charset="1" panose="020B0603020202020204"/>
      <p:regular r:id="rId21"/>
    </p:embeddedFont>
    <p:embeddedFont>
      <p:font typeface="Consolas" charset="1" panose="020B0609020204030204"/>
      <p:regular r:id="rId22"/>
    </p:embeddedFont>
    <p:embeddedFont>
      <p:font typeface="Trebuchet MS Bold" charset="1" panose="020B0703020202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100610" cy="95326"/>
            <a:chOff x="0" y="0"/>
            <a:chExt cx="8134147" cy="1271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00610" y="0"/>
            <a:ext cx="6100610" cy="95326"/>
            <a:chOff x="0" y="0"/>
            <a:chExt cx="8134147" cy="1271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8B6C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201230" y="0"/>
            <a:ext cx="6100610" cy="95326"/>
            <a:chOff x="0" y="0"/>
            <a:chExt cx="8134147" cy="1271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5F9BE0"/>
            </a:solidFill>
          </p:spPr>
        </p:sp>
      </p:grpSp>
      <p:grpSp>
        <p:nvGrpSpPr>
          <p:cNvPr name="Group 8" id="8"/>
          <p:cNvGrpSpPr/>
          <p:nvPr/>
        </p:nvGrpSpPr>
        <p:grpSpPr>
          <a:xfrm rot="2700000">
            <a:off x="1304039" y="3088510"/>
            <a:ext cx="1235402" cy="1235402"/>
            <a:chOff x="0" y="0"/>
            <a:chExt cx="1647203" cy="16472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7190" cy="1647190"/>
            </a:xfrm>
            <a:custGeom>
              <a:avLst/>
              <a:gdLst/>
              <a:ahLst/>
              <a:cxnLst/>
              <a:rect r="r" b="b" t="t" l="l"/>
              <a:pathLst>
                <a:path h="1647190" w="1647190">
                  <a:moveTo>
                    <a:pt x="0" y="0"/>
                  </a:moveTo>
                  <a:lnTo>
                    <a:pt x="1647190" y="0"/>
                  </a:lnTo>
                  <a:lnTo>
                    <a:pt x="1647190" y="1647190"/>
                  </a:lnTo>
                  <a:lnTo>
                    <a:pt x="0" y="1647190"/>
                  </a:lnTo>
                  <a:close/>
                </a:path>
              </a:pathLst>
            </a:custGeom>
            <a:solidFill>
              <a:srgbClr val="8B6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35402" y="4834890"/>
            <a:ext cx="15785735" cy="58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A78BFA"/>
                </a:solidFill>
                <a:latin typeface="Consolas Bold"/>
                <a:ea typeface="Consolas Bold"/>
                <a:cs typeface="Consolas Bold"/>
                <a:sym typeface="Consolas Bold"/>
              </a:rPr>
              <a:t>PIATTAFORMA PER PENETRATION TESTING TEAM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5402" y="5412534"/>
            <a:ext cx="15785735" cy="1931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48"/>
              </a:lnSpc>
            </a:pPr>
            <a:r>
              <a:rPr lang="en-US" sz="8706">
                <a:solidFill>
                  <a:srgbClr val="E8E6F0"/>
                </a:solidFill>
                <a:latin typeface="Georgia"/>
                <a:ea typeface="Georgia"/>
                <a:cs typeface="Georgia"/>
                <a:sym typeface="Georgia"/>
              </a:rPr>
              <a:t>Purple</a:t>
            </a:r>
            <a:r>
              <a:rPr lang="en-US" sz="8706" b="true">
                <a:solidFill>
                  <a:srgbClr val="A78BFA"/>
                </a:solidFill>
                <a:latin typeface="Georgia Bold"/>
                <a:ea typeface="Georgia Bold"/>
                <a:cs typeface="Georgia Bold"/>
                <a:sym typeface="Georgia Bold"/>
              </a:rPr>
              <a:t>Manager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5402" y="7286644"/>
            <a:ext cx="14413059" cy="1429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251">
                <a:solidFill>
                  <a:srgbClr val="9A97B0"/>
                </a:solidFill>
                <a:latin typeface="Trebuchet MS"/>
                <a:ea typeface="Trebuchet MS"/>
                <a:cs typeface="Trebuchet MS"/>
                <a:sym typeface="Trebuchet MS"/>
              </a:rPr>
              <a:t>Una piattaforma unica per Red Team, Blue Team e Purple Team: </a:t>
            </a:r>
          </a:p>
          <a:p>
            <a:pPr algn="l">
              <a:lnSpc>
                <a:spcPts val="3242"/>
              </a:lnSpc>
            </a:pPr>
            <a:r>
              <a:rPr lang="en-US" sz="2251">
                <a:solidFill>
                  <a:srgbClr val="9A97B0"/>
                </a:solidFill>
                <a:latin typeface="Trebuchet MS"/>
                <a:ea typeface="Trebuchet MS"/>
                <a:cs typeface="Trebuchet MS"/>
                <a:sym typeface="Trebuchet MS"/>
              </a:rPr>
              <a:t>metodologia, detection, correlazione offensiva-difensiva e assistente AI.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5402" y="9158802"/>
            <a:ext cx="15785735" cy="58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66280"/>
                </a:solidFill>
                <a:latin typeface="Consolas"/>
                <a:ea typeface="Consolas"/>
                <a:cs typeface="Consolas"/>
                <a:sym typeface="Consolas"/>
              </a:rPr>
              <a:t>Guida alla piattaforma · Demo ORG-TEST-01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100610" cy="95326"/>
            <a:chOff x="0" y="0"/>
            <a:chExt cx="8134147" cy="1271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00610" y="0"/>
            <a:ext cx="6100610" cy="95326"/>
            <a:chOff x="0" y="0"/>
            <a:chExt cx="8134147" cy="1271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8B6C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201230" y="0"/>
            <a:ext cx="6100610" cy="95326"/>
            <a:chOff x="0" y="0"/>
            <a:chExt cx="8134147" cy="1271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5F9BE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35402" y="716871"/>
            <a:ext cx="13726725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A78BFA"/>
                </a:solidFill>
                <a:latin typeface="Consolas Bold"/>
                <a:ea typeface="Consolas Bold"/>
                <a:cs typeface="Consolas Bold"/>
                <a:sym typeface="Consolas Bold"/>
              </a:rPr>
              <a:t>INTRODUZIONE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5402" y="1225877"/>
            <a:ext cx="15785735" cy="1244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E8E6F0"/>
                </a:solidFill>
                <a:latin typeface="Georgia Bold"/>
                <a:ea typeface="Georgia Bold"/>
                <a:cs typeface="Georgia Bold"/>
                <a:sym typeface="Georgia Bold"/>
              </a:rPr>
              <a:t>Cos'è Purple Manager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5402" y="2600516"/>
            <a:ext cx="15648470" cy="144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9A97B0"/>
                </a:solidFill>
                <a:latin typeface="Trebuchet MS"/>
                <a:ea typeface="Trebuchet MS"/>
                <a:cs typeface="Trebuchet MS"/>
                <a:sym typeface="Trebuchet MS"/>
              </a:rPr>
              <a:t>Purple Manager guida chi lavora nel penetration testing lungo tutto l'engagement. Non è un SOC: è uno strumento di lavoro e di metodo che tiene insieme il lato offensivo e quello difensivo, con un assistente AI consapevole di operare in un contesto autorizzato.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25877" y="4657554"/>
            <a:ext cx="3835098" cy="3313481"/>
            <a:chOff x="0" y="0"/>
            <a:chExt cx="5113464" cy="44179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13401" cy="4417949"/>
            </a:xfrm>
            <a:custGeom>
              <a:avLst/>
              <a:gdLst/>
              <a:ahLst/>
              <a:cxnLst/>
              <a:rect r="r" b="b" t="t" l="l"/>
              <a:pathLst>
                <a:path h="4417949" w="5113401">
                  <a:moveTo>
                    <a:pt x="0" y="0"/>
                  </a:moveTo>
                  <a:lnTo>
                    <a:pt x="5113401" y="0"/>
                  </a:lnTo>
                  <a:lnTo>
                    <a:pt x="5113401" y="4417949"/>
                  </a:lnTo>
                  <a:lnTo>
                    <a:pt x="0" y="4417949"/>
                  </a:lnTo>
                  <a:close/>
                </a:path>
              </a:pathLst>
            </a:custGeom>
            <a:solidFill>
              <a:srgbClr val="1A1A26"/>
            </a:solidFill>
            <a:ln w="19065" cap="sq">
              <a:solidFill>
                <a:srgbClr val="353548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35402" y="4667088"/>
            <a:ext cx="3816029" cy="57198"/>
            <a:chOff x="0" y="0"/>
            <a:chExt cx="5088039" cy="762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88001" cy="76200"/>
            </a:xfrm>
            <a:custGeom>
              <a:avLst/>
              <a:gdLst/>
              <a:ahLst/>
              <a:cxnLst/>
              <a:rect r="r" b="b" t="t" l="l"/>
              <a:pathLst>
                <a:path h="76200" w="5088001">
                  <a:moveTo>
                    <a:pt x="0" y="0"/>
                  </a:moveTo>
                  <a:lnTo>
                    <a:pt x="5088001" y="0"/>
                  </a:lnTo>
                  <a:lnTo>
                    <a:pt x="5088001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F6B6B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578569" y="5059842"/>
            <a:ext cx="3129696" cy="705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FF6B6B"/>
                </a:solidFill>
                <a:latin typeface="Georgia Bold"/>
                <a:ea typeface="Georgia Bold"/>
                <a:cs typeface="Georgia Bold"/>
                <a:sym typeface="Georgia Bold"/>
              </a:rPr>
              <a:t>Red Team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8569" y="5913977"/>
            <a:ext cx="3129696" cy="1841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1801">
                <a:solidFill>
                  <a:srgbClr val="9A97B0"/>
                </a:solidFill>
                <a:latin typeface="Trebuchet MS"/>
                <a:ea typeface="Trebuchet MS"/>
                <a:cs typeface="Trebuchet MS"/>
                <a:sym typeface="Trebuchet MS"/>
              </a:rPr>
              <a:t>Fasi del pentest, box type, attività, finding e attacchi loggati.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494887" y="4657554"/>
            <a:ext cx="3835098" cy="3313481"/>
            <a:chOff x="0" y="0"/>
            <a:chExt cx="5113464" cy="441797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13401" cy="4417949"/>
            </a:xfrm>
            <a:custGeom>
              <a:avLst/>
              <a:gdLst/>
              <a:ahLst/>
              <a:cxnLst/>
              <a:rect r="r" b="b" t="t" l="l"/>
              <a:pathLst>
                <a:path h="4417949" w="5113401">
                  <a:moveTo>
                    <a:pt x="0" y="0"/>
                  </a:moveTo>
                  <a:lnTo>
                    <a:pt x="5113401" y="0"/>
                  </a:lnTo>
                  <a:lnTo>
                    <a:pt x="5113401" y="4417949"/>
                  </a:lnTo>
                  <a:lnTo>
                    <a:pt x="0" y="4417949"/>
                  </a:lnTo>
                  <a:close/>
                </a:path>
              </a:pathLst>
            </a:custGeom>
            <a:solidFill>
              <a:srgbClr val="1A1A26"/>
            </a:solidFill>
            <a:ln w="19065" cap="sq">
              <a:solidFill>
                <a:srgbClr val="35354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5504412" y="4667088"/>
            <a:ext cx="3816029" cy="57198"/>
            <a:chOff x="0" y="0"/>
            <a:chExt cx="5088039" cy="762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88001" cy="76200"/>
            </a:xfrm>
            <a:custGeom>
              <a:avLst/>
              <a:gdLst/>
              <a:ahLst/>
              <a:cxnLst/>
              <a:rect r="r" b="b" t="t" l="l"/>
              <a:pathLst>
                <a:path h="76200" w="5088001">
                  <a:moveTo>
                    <a:pt x="0" y="0"/>
                  </a:moveTo>
                  <a:lnTo>
                    <a:pt x="5088001" y="0"/>
                  </a:lnTo>
                  <a:lnTo>
                    <a:pt x="5088001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F9BE0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5847588" y="5059842"/>
            <a:ext cx="3129696" cy="705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5F9BE0"/>
                </a:solidFill>
                <a:latin typeface="Georgia Bold"/>
                <a:ea typeface="Georgia Bold"/>
                <a:cs typeface="Georgia Bold"/>
                <a:sym typeface="Georgia Bold"/>
              </a:rPr>
              <a:t>Blue Team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847588" y="5913977"/>
            <a:ext cx="3129696" cy="1841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1801">
                <a:solidFill>
                  <a:srgbClr val="9A97B0"/>
                </a:solidFill>
                <a:latin typeface="Trebuchet MS"/>
                <a:ea typeface="Trebuchet MS"/>
                <a:cs typeface="Trebuchet MS"/>
                <a:sym typeface="Trebuchet MS"/>
              </a:rPr>
              <a:t>Guide difensive generate dall'AI per ogni attacco in corso.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763897" y="4657554"/>
            <a:ext cx="3835098" cy="3313481"/>
            <a:chOff x="0" y="0"/>
            <a:chExt cx="5113464" cy="441797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13401" cy="4417949"/>
            </a:xfrm>
            <a:custGeom>
              <a:avLst/>
              <a:gdLst/>
              <a:ahLst/>
              <a:cxnLst/>
              <a:rect r="r" b="b" t="t" l="l"/>
              <a:pathLst>
                <a:path h="4417949" w="5113401">
                  <a:moveTo>
                    <a:pt x="0" y="0"/>
                  </a:moveTo>
                  <a:lnTo>
                    <a:pt x="5113401" y="0"/>
                  </a:lnTo>
                  <a:lnTo>
                    <a:pt x="5113401" y="4417949"/>
                  </a:lnTo>
                  <a:lnTo>
                    <a:pt x="0" y="4417949"/>
                  </a:lnTo>
                  <a:close/>
                </a:path>
              </a:pathLst>
            </a:custGeom>
            <a:solidFill>
              <a:srgbClr val="1A1A26"/>
            </a:solidFill>
            <a:ln w="19065" cap="sq">
              <a:solidFill>
                <a:srgbClr val="353548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773431" y="4667088"/>
            <a:ext cx="3816029" cy="57198"/>
            <a:chOff x="0" y="0"/>
            <a:chExt cx="5088039" cy="762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88001" cy="76200"/>
            </a:xfrm>
            <a:custGeom>
              <a:avLst/>
              <a:gdLst/>
              <a:ahLst/>
              <a:cxnLst/>
              <a:rect r="r" b="b" t="t" l="l"/>
              <a:pathLst>
                <a:path h="76200" w="5088001">
                  <a:moveTo>
                    <a:pt x="0" y="0"/>
                  </a:moveTo>
                  <a:lnTo>
                    <a:pt x="5088001" y="0"/>
                  </a:lnTo>
                  <a:lnTo>
                    <a:pt x="5088001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A78BFA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0116598" y="5059842"/>
            <a:ext cx="3129696" cy="705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A78BFA"/>
                </a:solidFill>
                <a:latin typeface="Georgia Bold"/>
                <a:ea typeface="Georgia Bold"/>
                <a:cs typeface="Georgia Bold"/>
                <a:sym typeface="Georgia Bold"/>
              </a:rPr>
              <a:t>Purple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116598" y="5913977"/>
            <a:ext cx="3129696" cy="1841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1801">
                <a:solidFill>
                  <a:srgbClr val="9A97B0"/>
                </a:solidFill>
                <a:latin typeface="Trebuchet MS"/>
                <a:ea typeface="Trebuchet MS"/>
                <a:cs typeface="Trebuchet MS"/>
                <a:sym typeface="Trebuchet MS"/>
              </a:rPr>
              <a:t>Correlazione Red↔Blue, metriche di detection e report.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4032906" y="4657554"/>
            <a:ext cx="3835098" cy="3313481"/>
            <a:chOff x="0" y="0"/>
            <a:chExt cx="5113464" cy="441797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13401" cy="4417949"/>
            </a:xfrm>
            <a:custGeom>
              <a:avLst/>
              <a:gdLst/>
              <a:ahLst/>
              <a:cxnLst/>
              <a:rect r="r" b="b" t="t" l="l"/>
              <a:pathLst>
                <a:path h="4417949" w="5113401">
                  <a:moveTo>
                    <a:pt x="0" y="0"/>
                  </a:moveTo>
                  <a:lnTo>
                    <a:pt x="5113401" y="0"/>
                  </a:lnTo>
                  <a:lnTo>
                    <a:pt x="5113401" y="4417949"/>
                  </a:lnTo>
                  <a:lnTo>
                    <a:pt x="0" y="4417949"/>
                  </a:lnTo>
                  <a:close/>
                </a:path>
              </a:pathLst>
            </a:custGeom>
            <a:solidFill>
              <a:srgbClr val="1A1A26"/>
            </a:solidFill>
            <a:ln w="19065" cap="sq">
              <a:solidFill>
                <a:srgbClr val="353548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4042441" y="4667088"/>
            <a:ext cx="3816029" cy="57198"/>
            <a:chOff x="0" y="0"/>
            <a:chExt cx="5088039" cy="762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088001" cy="76200"/>
            </a:xfrm>
            <a:custGeom>
              <a:avLst/>
              <a:gdLst/>
              <a:ahLst/>
              <a:cxnLst/>
              <a:rect r="r" b="b" t="t" l="l"/>
              <a:pathLst>
                <a:path h="76200" w="5088001">
                  <a:moveTo>
                    <a:pt x="0" y="0"/>
                  </a:moveTo>
                  <a:lnTo>
                    <a:pt x="5088001" y="0"/>
                  </a:lnTo>
                  <a:lnTo>
                    <a:pt x="5088001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5B44A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4385607" y="5059842"/>
            <a:ext cx="3129696" cy="705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F5B44A"/>
                </a:solidFill>
                <a:latin typeface="Georgia Bold"/>
                <a:ea typeface="Georgia Bold"/>
                <a:cs typeface="Georgia Bold"/>
                <a:sym typeface="Georgia Bold"/>
              </a:rPr>
              <a:t>ATT&amp;CK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385607" y="5913977"/>
            <a:ext cx="3129696" cy="1841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1801">
                <a:solidFill>
                  <a:srgbClr val="9A97B0"/>
                </a:solidFill>
                <a:latin typeface="Trebuchet MS"/>
                <a:ea typeface="Trebuchet MS"/>
                <a:cs typeface="Trebuchet MS"/>
                <a:sym typeface="Trebuchet MS"/>
              </a:rPr>
              <a:t>Libreria MITRE ATT&amp;CK di riferimento per ogni fase.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100610" cy="95326"/>
            <a:chOff x="0" y="0"/>
            <a:chExt cx="8134147" cy="1271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00610" y="0"/>
            <a:ext cx="6100610" cy="95326"/>
            <a:chOff x="0" y="0"/>
            <a:chExt cx="8134147" cy="1271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8B6C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201230" y="0"/>
            <a:ext cx="6100610" cy="95326"/>
            <a:chOff x="0" y="0"/>
            <a:chExt cx="8134147" cy="1271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5F9BE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35402" y="716871"/>
            <a:ext cx="13726725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A78BFA"/>
                </a:solidFill>
                <a:latin typeface="Consolas Bold"/>
                <a:ea typeface="Consolas Bold"/>
                <a:cs typeface="Consolas Bold"/>
                <a:sym typeface="Consolas Bold"/>
              </a:rPr>
              <a:t>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5402" y="1225877"/>
            <a:ext cx="15785735" cy="1244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E8E6F0"/>
                </a:solidFill>
                <a:latin typeface="Georgia Bold"/>
                <a:ea typeface="Georgia Bold"/>
                <a:cs typeface="Georgia Bold"/>
                <a:sym typeface="Georgia Bold"/>
              </a:rPr>
              <a:t>Security posture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5402" y="2482291"/>
            <a:ext cx="15785735" cy="1429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2026">
                <a:solidFill>
                  <a:srgbClr val="9A97B0"/>
                </a:solidFill>
                <a:latin typeface="Trebuchet MS"/>
                <a:ea typeface="Trebuchet MS"/>
                <a:cs typeface="Trebuchet MS"/>
                <a:sym typeface="Trebuchet MS"/>
              </a:rPr>
              <a:t>Punto di partenza: posture score, maturità offensiva/difensiva, profilo dell'organizzazione target,</a:t>
            </a:r>
          </a:p>
          <a:p>
            <a:pPr algn="l">
              <a:lnSpc>
                <a:spcPts val="2918"/>
              </a:lnSpc>
            </a:pPr>
            <a:r>
              <a:rPr lang="en-US" sz="2026">
                <a:solidFill>
                  <a:srgbClr val="9A97B0"/>
                </a:solidFill>
                <a:latin typeface="Trebuchet MS"/>
                <a:ea typeface="Trebuchet MS"/>
                <a:cs typeface="Trebuchet MS"/>
                <a:sym typeface="Trebuchet MS"/>
              </a:rPr>
              <a:t>finding aperti, fasi completate e contesto team. Tutti i dati vengono da Supabase, nulla è statico.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099378" y="4012206"/>
            <a:ext cx="12098960" cy="5839577"/>
            <a:chOff x="0" y="0"/>
            <a:chExt cx="16131946" cy="77861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131921" cy="7786116"/>
            </a:xfrm>
            <a:custGeom>
              <a:avLst/>
              <a:gdLst/>
              <a:ahLst/>
              <a:cxnLst/>
              <a:rect r="r" b="b" t="t" l="l"/>
              <a:pathLst>
                <a:path h="7786116" w="16131921">
                  <a:moveTo>
                    <a:pt x="0" y="0"/>
                  </a:moveTo>
                  <a:lnTo>
                    <a:pt x="16131921" y="0"/>
                  </a:lnTo>
                  <a:lnTo>
                    <a:pt x="16131921" y="7786116"/>
                  </a:lnTo>
                  <a:lnTo>
                    <a:pt x="0" y="7786116"/>
                  </a:lnTo>
                  <a:close/>
                </a:path>
              </a:pathLst>
            </a:custGeom>
            <a:solidFill>
              <a:srgbClr val="1A1A26"/>
            </a:solidFill>
            <a:ln w="28597" cap="sq">
              <a:solidFill>
                <a:srgbClr val="8B6CF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3136554" y="4049382"/>
            <a:ext cx="12024608" cy="5765225"/>
            <a:chOff x="0" y="0"/>
            <a:chExt cx="16032810" cy="7686967"/>
          </a:xfrm>
        </p:grpSpPr>
        <p:sp>
          <p:nvSpPr>
            <p:cNvPr name="Freeform 14" id="14" descr="1791299910660_image.png"/>
            <p:cNvSpPr/>
            <p:nvPr/>
          </p:nvSpPr>
          <p:spPr>
            <a:xfrm flipH="false" flipV="false" rot="0">
              <a:off x="0" y="0"/>
              <a:ext cx="16032862" cy="7686929"/>
            </a:xfrm>
            <a:custGeom>
              <a:avLst/>
              <a:gdLst/>
              <a:ahLst/>
              <a:cxnLst/>
              <a:rect r="r" b="b" t="t" l="l"/>
              <a:pathLst>
                <a:path h="7686929" w="16032862">
                  <a:moveTo>
                    <a:pt x="0" y="0"/>
                  </a:moveTo>
                  <a:lnTo>
                    <a:pt x="16032862" y="0"/>
                  </a:lnTo>
                  <a:lnTo>
                    <a:pt x="16032862" y="7686929"/>
                  </a:lnTo>
                  <a:lnTo>
                    <a:pt x="0" y="7686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100610" cy="95326"/>
            <a:chOff x="0" y="0"/>
            <a:chExt cx="8134147" cy="1271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00610" y="0"/>
            <a:ext cx="6100610" cy="95326"/>
            <a:chOff x="0" y="0"/>
            <a:chExt cx="8134147" cy="1271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8B6C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201230" y="0"/>
            <a:ext cx="6100610" cy="95326"/>
            <a:chOff x="0" y="0"/>
            <a:chExt cx="8134147" cy="1271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5F9BE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35402" y="716871"/>
            <a:ext cx="13726725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6B6B"/>
                </a:solidFill>
                <a:latin typeface="Consolas Bold"/>
                <a:ea typeface="Consolas Bold"/>
                <a:cs typeface="Consolas Bold"/>
                <a:sym typeface="Consolas Bold"/>
              </a:rPr>
              <a:t>RED TEAM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5402" y="1225877"/>
            <a:ext cx="15785735" cy="1244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E8E6F0"/>
                </a:solidFill>
                <a:latin typeface="Georgia Bold"/>
                <a:ea typeface="Georgia Bold"/>
                <a:cs typeface="Georgia Bold"/>
                <a:sym typeface="Georgia Bold"/>
              </a:rPr>
              <a:t>Offensive engagement — Box type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5402" y="2482291"/>
            <a:ext cx="15785735" cy="1429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2026">
                <a:solidFill>
                  <a:srgbClr val="9A97B0"/>
                </a:solidFill>
                <a:latin typeface="Trebuchet MS"/>
                <a:ea typeface="Trebuchet MS"/>
                <a:cs typeface="Trebuchet MS"/>
                <a:sym typeface="Trebuchet MS"/>
              </a:rPr>
              <a:t>Per ogni engagement si sceglie il livello di conoscenza fornito al team: Black, Grey o White Box.</a:t>
            </a:r>
          </a:p>
          <a:p>
            <a:pPr algn="l">
              <a:lnSpc>
                <a:spcPts val="2918"/>
              </a:lnSpc>
            </a:pPr>
            <a:r>
              <a:rPr lang="en-US" sz="2026">
                <a:solidFill>
                  <a:srgbClr val="9A97B0"/>
                </a:solidFill>
                <a:latin typeface="Trebuchet MS"/>
                <a:ea typeface="Trebuchet MS"/>
                <a:cs typeface="Trebuchet MS"/>
                <a:sym typeface="Trebuchet MS"/>
              </a:rPr>
              <a:t>La scelta definisce lo scenario e viene iniettata nel contesto dell'assistente AI.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41698" y="4012206"/>
            <a:ext cx="15814329" cy="4466901"/>
            <a:chOff x="0" y="0"/>
            <a:chExt cx="21085772" cy="59558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85811" cy="5955919"/>
            </a:xfrm>
            <a:custGeom>
              <a:avLst/>
              <a:gdLst/>
              <a:ahLst/>
              <a:cxnLst/>
              <a:rect r="r" b="b" t="t" l="l"/>
              <a:pathLst>
                <a:path h="5955919" w="21085811">
                  <a:moveTo>
                    <a:pt x="0" y="0"/>
                  </a:moveTo>
                  <a:lnTo>
                    <a:pt x="21085811" y="0"/>
                  </a:lnTo>
                  <a:lnTo>
                    <a:pt x="21085811" y="5955919"/>
                  </a:lnTo>
                  <a:lnTo>
                    <a:pt x="0" y="5955919"/>
                  </a:lnTo>
                  <a:close/>
                </a:path>
              </a:pathLst>
            </a:custGeom>
            <a:solidFill>
              <a:srgbClr val="1A1A26"/>
            </a:solidFill>
            <a:ln w="28597" cap="sq">
              <a:solidFill>
                <a:srgbClr val="8B6CF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78874" y="4049382"/>
            <a:ext cx="15739977" cy="4392549"/>
            <a:chOff x="0" y="0"/>
            <a:chExt cx="20986636" cy="5856732"/>
          </a:xfrm>
        </p:grpSpPr>
        <p:sp>
          <p:nvSpPr>
            <p:cNvPr name="Freeform 14" id="14" descr="1791299954292_image.png"/>
            <p:cNvSpPr/>
            <p:nvPr/>
          </p:nvSpPr>
          <p:spPr>
            <a:xfrm flipH="false" flipV="false" rot="0">
              <a:off x="0" y="0"/>
              <a:ext cx="20986623" cy="5856732"/>
            </a:xfrm>
            <a:custGeom>
              <a:avLst/>
              <a:gdLst/>
              <a:ahLst/>
              <a:cxnLst/>
              <a:rect r="r" b="b" t="t" l="l"/>
              <a:pathLst>
                <a:path h="5856732" w="20986623">
                  <a:moveTo>
                    <a:pt x="0" y="0"/>
                  </a:moveTo>
                  <a:lnTo>
                    <a:pt x="20986623" y="0"/>
                  </a:lnTo>
                  <a:lnTo>
                    <a:pt x="20986623" y="5856732"/>
                  </a:lnTo>
                  <a:lnTo>
                    <a:pt x="0" y="5856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100610" cy="95326"/>
            <a:chOff x="0" y="0"/>
            <a:chExt cx="8134147" cy="1271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00610" y="0"/>
            <a:ext cx="6100610" cy="95326"/>
            <a:chOff x="0" y="0"/>
            <a:chExt cx="8134147" cy="1271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8B6C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201230" y="0"/>
            <a:ext cx="6100610" cy="95326"/>
            <a:chOff x="0" y="0"/>
            <a:chExt cx="8134147" cy="1271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5F9BE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35402" y="716871"/>
            <a:ext cx="13726725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6B6B"/>
                </a:solidFill>
                <a:latin typeface="Consolas Bold"/>
                <a:ea typeface="Consolas Bold"/>
                <a:cs typeface="Consolas Bold"/>
                <a:sym typeface="Consolas Bold"/>
              </a:rPr>
              <a:t>RED TEAM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5402" y="1225877"/>
            <a:ext cx="15785735" cy="1244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E8E6F0"/>
                </a:solidFill>
                <a:latin typeface="Georgia Bold"/>
                <a:ea typeface="Georgia Bold"/>
                <a:cs typeface="Georgia Bold"/>
                <a:sym typeface="Georgia Bold"/>
              </a:rPr>
              <a:t>Fasi dell'assessment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5402" y="2482291"/>
            <a:ext cx="15785735" cy="1429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2026">
                <a:solidFill>
                  <a:srgbClr val="9A97B0"/>
                </a:solidFill>
                <a:latin typeface="Trebuchet MS"/>
                <a:ea typeface="Trebuchet MS"/>
                <a:cs typeface="Trebuchet MS"/>
                <a:sym typeface="Trebuchet MS"/>
              </a:rPr>
              <a:t>Le 13 fasi del penetration test, ognuna con sotto-attività, note e stato. Da qui si registrano</a:t>
            </a:r>
          </a:p>
          <a:p>
            <a:pPr algn="l">
              <a:lnSpc>
                <a:spcPts val="2918"/>
              </a:lnSpc>
            </a:pPr>
            <a:r>
              <a:rPr lang="en-US" sz="2026">
                <a:solidFill>
                  <a:srgbClr val="9A97B0"/>
                </a:solidFill>
                <a:latin typeface="Trebuchet MS"/>
                <a:ea typeface="Trebuchet MS"/>
                <a:cs typeface="Trebuchet MS"/>
                <a:sym typeface="Trebuchet MS"/>
              </a:rPr>
              <a:t>i finding e si loggano gli attacchi eseguiti, che alimentano le sezioni Blue e Purple.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64545" y="4012206"/>
            <a:ext cx="15368626" cy="5427774"/>
            <a:chOff x="0" y="0"/>
            <a:chExt cx="20491501" cy="72370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491450" cy="7237095"/>
            </a:xfrm>
            <a:custGeom>
              <a:avLst/>
              <a:gdLst/>
              <a:ahLst/>
              <a:cxnLst/>
              <a:rect r="r" b="b" t="t" l="l"/>
              <a:pathLst>
                <a:path h="7237095" w="20491450">
                  <a:moveTo>
                    <a:pt x="0" y="0"/>
                  </a:moveTo>
                  <a:lnTo>
                    <a:pt x="20491450" y="0"/>
                  </a:lnTo>
                  <a:lnTo>
                    <a:pt x="20491450" y="7237095"/>
                  </a:lnTo>
                  <a:lnTo>
                    <a:pt x="0" y="7237095"/>
                  </a:lnTo>
                  <a:close/>
                </a:path>
              </a:pathLst>
            </a:custGeom>
            <a:solidFill>
              <a:srgbClr val="1A1A26"/>
            </a:solidFill>
            <a:ln w="28597" cap="sq">
              <a:solidFill>
                <a:srgbClr val="8B6CF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501721" y="4049382"/>
            <a:ext cx="15294273" cy="5353421"/>
            <a:chOff x="0" y="0"/>
            <a:chExt cx="20392365" cy="7137895"/>
          </a:xfrm>
        </p:grpSpPr>
        <p:sp>
          <p:nvSpPr>
            <p:cNvPr name="Freeform 14" id="14" descr="1791300024088_image.png"/>
            <p:cNvSpPr/>
            <p:nvPr/>
          </p:nvSpPr>
          <p:spPr>
            <a:xfrm flipH="false" flipV="false" rot="0">
              <a:off x="0" y="0"/>
              <a:ext cx="20392389" cy="7137908"/>
            </a:xfrm>
            <a:custGeom>
              <a:avLst/>
              <a:gdLst/>
              <a:ahLst/>
              <a:cxnLst/>
              <a:rect r="r" b="b" t="t" l="l"/>
              <a:pathLst>
                <a:path h="7137908" w="20392389">
                  <a:moveTo>
                    <a:pt x="0" y="0"/>
                  </a:moveTo>
                  <a:lnTo>
                    <a:pt x="20392389" y="0"/>
                  </a:lnTo>
                  <a:lnTo>
                    <a:pt x="20392389" y="7137908"/>
                  </a:lnTo>
                  <a:lnTo>
                    <a:pt x="0" y="7137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100610" cy="95326"/>
            <a:chOff x="0" y="0"/>
            <a:chExt cx="8134147" cy="1271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00610" y="0"/>
            <a:ext cx="6100610" cy="95326"/>
            <a:chOff x="0" y="0"/>
            <a:chExt cx="8134147" cy="1271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8B6C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201230" y="0"/>
            <a:ext cx="6100610" cy="95326"/>
            <a:chOff x="0" y="0"/>
            <a:chExt cx="8134147" cy="1271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5F9BE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35402" y="716871"/>
            <a:ext cx="13726725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5F9BE0"/>
                </a:solidFill>
                <a:latin typeface="Consolas Bold"/>
                <a:ea typeface="Consolas Bold"/>
                <a:cs typeface="Consolas Bold"/>
                <a:sym typeface="Consolas Bold"/>
              </a:rPr>
              <a:t>BLUE TEAM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5402" y="1225877"/>
            <a:ext cx="15785735" cy="1244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E8E6F0"/>
                </a:solidFill>
                <a:latin typeface="Georgia Bold"/>
                <a:ea typeface="Georgia Bold"/>
                <a:cs typeface="Georgia Bold"/>
                <a:sym typeface="Georgia Bold"/>
              </a:rPr>
              <a:t>Defensive response — Attacco in corso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5402" y="2482291"/>
            <a:ext cx="15785735" cy="1429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2026">
                <a:solidFill>
                  <a:srgbClr val="9A97B0"/>
                </a:solidFill>
                <a:latin typeface="Trebuchet MS"/>
                <a:ea typeface="Trebuchet MS"/>
                <a:cs typeface="Trebuchet MS"/>
                <a:sym typeface="Trebuchet MS"/>
              </a:rPr>
              <a:t>Il difensore seleziona un attacco dal log (o lo inserisce manualmente) e può registrarlo come rilevato,</a:t>
            </a:r>
          </a:p>
          <a:p>
            <a:pPr algn="l">
              <a:lnSpc>
                <a:spcPts val="2918"/>
              </a:lnSpc>
            </a:pPr>
            <a:r>
              <a:rPr lang="en-US" sz="2026">
                <a:solidFill>
                  <a:srgbClr val="9A97B0"/>
                </a:solidFill>
                <a:latin typeface="Trebuchet MS"/>
                <a:ea typeface="Trebuchet MS"/>
                <a:cs typeface="Trebuchet MS"/>
                <a:sym typeface="Trebuchet MS"/>
              </a:rPr>
              <a:t>misurando il tempo di detection che confluisce nelle metriche Purple.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98226" y="4036428"/>
            <a:ext cx="15901264" cy="4555722"/>
            <a:chOff x="0" y="0"/>
            <a:chExt cx="21201685" cy="60742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201635" cy="6074283"/>
            </a:xfrm>
            <a:custGeom>
              <a:avLst/>
              <a:gdLst/>
              <a:ahLst/>
              <a:cxnLst/>
              <a:rect r="r" b="b" t="t" l="l"/>
              <a:pathLst>
                <a:path h="6074283" w="21201635">
                  <a:moveTo>
                    <a:pt x="0" y="0"/>
                  </a:moveTo>
                  <a:lnTo>
                    <a:pt x="21201635" y="0"/>
                  </a:lnTo>
                  <a:lnTo>
                    <a:pt x="21201635" y="6074283"/>
                  </a:lnTo>
                  <a:lnTo>
                    <a:pt x="0" y="6074283"/>
                  </a:lnTo>
                  <a:close/>
                </a:path>
              </a:pathLst>
            </a:custGeom>
            <a:solidFill>
              <a:srgbClr val="1A1A26"/>
            </a:solidFill>
            <a:ln w="28597" cap="sq">
              <a:solidFill>
                <a:srgbClr val="8B6CF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35402" y="4073614"/>
            <a:ext cx="15826911" cy="4481370"/>
            <a:chOff x="0" y="0"/>
            <a:chExt cx="21102549" cy="5975160"/>
          </a:xfrm>
        </p:grpSpPr>
        <p:sp>
          <p:nvSpPr>
            <p:cNvPr name="Freeform 14" id="14" descr="1791300125289_image.png"/>
            <p:cNvSpPr/>
            <p:nvPr/>
          </p:nvSpPr>
          <p:spPr>
            <a:xfrm flipH="false" flipV="false" rot="0">
              <a:off x="0" y="0"/>
              <a:ext cx="21102574" cy="5975096"/>
            </a:xfrm>
            <a:custGeom>
              <a:avLst/>
              <a:gdLst/>
              <a:ahLst/>
              <a:cxnLst/>
              <a:rect r="r" b="b" t="t" l="l"/>
              <a:pathLst>
                <a:path h="5975096" w="21102574">
                  <a:moveTo>
                    <a:pt x="0" y="0"/>
                  </a:moveTo>
                  <a:lnTo>
                    <a:pt x="21102574" y="0"/>
                  </a:lnTo>
                  <a:lnTo>
                    <a:pt x="21102574" y="5975096"/>
                  </a:lnTo>
                  <a:lnTo>
                    <a:pt x="0" y="5975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100610" cy="95326"/>
            <a:chOff x="0" y="0"/>
            <a:chExt cx="8134147" cy="1271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00610" y="0"/>
            <a:ext cx="6100610" cy="95326"/>
            <a:chOff x="0" y="0"/>
            <a:chExt cx="8134147" cy="1271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8B6C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201230" y="0"/>
            <a:ext cx="6100610" cy="95326"/>
            <a:chOff x="0" y="0"/>
            <a:chExt cx="8134147" cy="1271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5F9BE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35402" y="716871"/>
            <a:ext cx="13726725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5F9BE0"/>
                </a:solidFill>
                <a:latin typeface="Consolas Bold"/>
                <a:ea typeface="Consolas Bold"/>
                <a:cs typeface="Consolas Bold"/>
                <a:sym typeface="Consolas Bold"/>
              </a:rPr>
              <a:t>BLUE TEAM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5402" y="1225877"/>
            <a:ext cx="15785735" cy="1244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E8E6F0"/>
                </a:solidFill>
                <a:latin typeface="Georgia Bold"/>
                <a:ea typeface="Georgia Bold"/>
                <a:cs typeface="Georgia Bold"/>
                <a:sym typeface="Georgia Bold"/>
              </a:rPr>
              <a:t>Guida difensiva generata dall'AI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5402" y="2482291"/>
            <a:ext cx="15785735" cy="1429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2026">
                <a:solidFill>
                  <a:srgbClr val="9A97B0"/>
                </a:solidFill>
                <a:latin typeface="Trebuchet MS"/>
                <a:ea typeface="Trebuchet MS"/>
                <a:cs typeface="Trebuchet MS"/>
                <a:sym typeface="Trebuchet MS"/>
              </a:rPr>
              <a:t>Per ogni attacco l'AI genera quattro guide operative: cosa controllare, come rilevarlo, come difendersi</a:t>
            </a:r>
          </a:p>
          <a:p>
            <a:pPr algn="l">
              <a:lnSpc>
                <a:spcPts val="2918"/>
              </a:lnSpc>
            </a:pPr>
            <a:r>
              <a:rPr lang="en-US" sz="2026">
                <a:solidFill>
                  <a:srgbClr val="9A97B0"/>
                </a:solidFill>
                <a:latin typeface="Trebuchet MS"/>
                <a:ea typeface="Trebuchet MS"/>
                <a:cs typeface="Trebuchet MS"/>
                <a:sym typeface="Trebuchet MS"/>
              </a:rPr>
              <a:t>e come rispondere — con event ID, query SIEM e comandi reali, da adattare al proprio ambiente.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933805" y="4012206"/>
            <a:ext cx="12430125" cy="5565038"/>
            <a:chOff x="0" y="0"/>
            <a:chExt cx="16573500" cy="74200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573500" cy="7420102"/>
            </a:xfrm>
            <a:custGeom>
              <a:avLst/>
              <a:gdLst/>
              <a:ahLst/>
              <a:cxnLst/>
              <a:rect r="r" b="b" t="t" l="l"/>
              <a:pathLst>
                <a:path h="7420102" w="16573500">
                  <a:moveTo>
                    <a:pt x="0" y="0"/>
                  </a:moveTo>
                  <a:lnTo>
                    <a:pt x="16573500" y="0"/>
                  </a:lnTo>
                  <a:lnTo>
                    <a:pt x="16573500" y="7420102"/>
                  </a:lnTo>
                  <a:lnTo>
                    <a:pt x="0" y="7420102"/>
                  </a:lnTo>
                  <a:close/>
                </a:path>
              </a:pathLst>
            </a:custGeom>
            <a:solidFill>
              <a:srgbClr val="1A1A26"/>
            </a:solidFill>
            <a:ln w="28597" cap="sq">
              <a:solidFill>
                <a:srgbClr val="8B6CF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2970981" y="4049382"/>
            <a:ext cx="12355773" cy="5490686"/>
            <a:chOff x="0" y="0"/>
            <a:chExt cx="16474364" cy="7320915"/>
          </a:xfrm>
        </p:grpSpPr>
        <p:sp>
          <p:nvSpPr>
            <p:cNvPr name="Freeform 14" id="14" descr="1791300182390_image.png"/>
            <p:cNvSpPr/>
            <p:nvPr/>
          </p:nvSpPr>
          <p:spPr>
            <a:xfrm flipH="false" flipV="false" rot="0">
              <a:off x="0" y="0"/>
              <a:ext cx="16474312" cy="7320915"/>
            </a:xfrm>
            <a:custGeom>
              <a:avLst/>
              <a:gdLst/>
              <a:ahLst/>
              <a:cxnLst/>
              <a:rect r="r" b="b" t="t" l="l"/>
              <a:pathLst>
                <a:path h="7320915" w="16474312">
                  <a:moveTo>
                    <a:pt x="0" y="0"/>
                  </a:moveTo>
                  <a:lnTo>
                    <a:pt x="16474312" y="0"/>
                  </a:lnTo>
                  <a:lnTo>
                    <a:pt x="16474312" y="7320915"/>
                  </a:lnTo>
                  <a:lnTo>
                    <a:pt x="0" y="7320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100610" cy="95326"/>
            <a:chOff x="0" y="0"/>
            <a:chExt cx="8134147" cy="1271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00610" y="0"/>
            <a:ext cx="6100610" cy="95326"/>
            <a:chOff x="0" y="0"/>
            <a:chExt cx="8134147" cy="1271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8B6C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201230" y="0"/>
            <a:ext cx="6100610" cy="95326"/>
            <a:chOff x="0" y="0"/>
            <a:chExt cx="8134147" cy="1271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5F9BE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35402" y="716871"/>
            <a:ext cx="13726725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A78BFA"/>
                </a:solidFill>
                <a:latin typeface="Consolas Bold"/>
                <a:ea typeface="Consolas Bold"/>
                <a:cs typeface="Consolas Bold"/>
                <a:sym typeface="Consolas Bold"/>
              </a:rPr>
              <a:t>PURPLE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5402" y="1225877"/>
            <a:ext cx="15785735" cy="1244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E8E6F0"/>
                </a:solidFill>
                <a:latin typeface="Georgia Bold"/>
                <a:ea typeface="Georgia Bold"/>
                <a:cs typeface="Georgia Bold"/>
                <a:sym typeface="Georgia Bold"/>
              </a:rPr>
              <a:t>Purple exercise — Correlazione Red ↔ Blue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5402" y="2482291"/>
            <a:ext cx="15785735" cy="1429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2026">
                <a:solidFill>
                  <a:srgbClr val="9A97B0"/>
                </a:solidFill>
                <a:latin typeface="Trebuchet MS"/>
                <a:ea typeface="Trebuchet MS"/>
                <a:cs typeface="Trebuchet MS"/>
                <a:sym typeface="Trebuchet MS"/>
              </a:rPr>
              <a:t>La vista d'insieme: attacchi totali, rilevati, gap e copertura. Timeline degli attacchi con stato</a:t>
            </a:r>
          </a:p>
          <a:p>
            <a:pPr algn="l">
              <a:lnSpc>
                <a:spcPts val="2918"/>
              </a:lnSpc>
            </a:pPr>
            <a:r>
              <a:rPr lang="en-US" sz="2026">
                <a:solidFill>
                  <a:srgbClr val="9A97B0"/>
                </a:solidFill>
                <a:latin typeface="Trebuchet MS"/>
                <a:ea typeface="Trebuchet MS"/>
                <a:cs typeface="Trebuchet MS"/>
                <a:sym typeface="Trebuchet MS"/>
              </a:rPr>
              <a:t>di detection e sintesi dell'esercizio, da cui si genera il report completo.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048591" y="4012206"/>
            <a:ext cx="12200544" cy="5839577"/>
            <a:chOff x="0" y="0"/>
            <a:chExt cx="16267392" cy="77861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267430" cy="7786116"/>
            </a:xfrm>
            <a:custGeom>
              <a:avLst/>
              <a:gdLst/>
              <a:ahLst/>
              <a:cxnLst/>
              <a:rect r="r" b="b" t="t" l="l"/>
              <a:pathLst>
                <a:path h="7786116" w="16267430">
                  <a:moveTo>
                    <a:pt x="0" y="0"/>
                  </a:moveTo>
                  <a:lnTo>
                    <a:pt x="16267430" y="0"/>
                  </a:lnTo>
                  <a:lnTo>
                    <a:pt x="16267430" y="7786116"/>
                  </a:lnTo>
                  <a:lnTo>
                    <a:pt x="0" y="7786116"/>
                  </a:lnTo>
                  <a:close/>
                </a:path>
              </a:pathLst>
            </a:custGeom>
            <a:solidFill>
              <a:srgbClr val="1A1A26"/>
            </a:solidFill>
            <a:ln w="28597" cap="sq">
              <a:solidFill>
                <a:srgbClr val="8B6CF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3085767" y="4049382"/>
            <a:ext cx="12126192" cy="5765225"/>
            <a:chOff x="0" y="0"/>
            <a:chExt cx="16168256" cy="7686967"/>
          </a:xfrm>
        </p:grpSpPr>
        <p:sp>
          <p:nvSpPr>
            <p:cNvPr name="Freeform 14" id="14" descr="1791300326168_image.png"/>
            <p:cNvSpPr/>
            <p:nvPr/>
          </p:nvSpPr>
          <p:spPr>
            <a:xfrm flipH="false" flipV="false" rot="0">
              <a:off x="0" y="0"/>
              <a:ext cx="16168243" cy="7686929"/>
            </a:xfrm>
            <a:custGeom>
              <a:avLst/>
              <a:gdLst/>
              <a:ahLst/>
              <a:cxnLst/>
              <a:rect r="r" b="b" t="t" l="l"/>
              <a:pathLst>
                <a:path h="7686929" w="16168243">
                  <a:moveTo>
                    <a:pt x="0" y="0"/>
                  </a:moveTo>
                  <a:lnTo>
                    <a:pt x="16168243" y="0"/>
                  </a:lnTo>
                  <a:lnTo>
                    <a:pt x="16168243" y="7686929"/>
                  </a:lnTo>
                  <a:lnTo>
                    <a:pt x="0" y="7686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100610" cy="95326"/>
            <a:chOff x="0" y="0"/>
            <a:chExt cx="8134147" cy="1271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00610" y="0"/>
            <a:ext cx="6100610" cy="95326"/>
            <a:chOff x="0" y="0"/>
            <a:chExt cx="8134147" cy="1271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8B6C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201230" y="0"/>
            <a:ext cx="6100610" cy="95326"/>
            <a:chOff x="0" y="0"/>
            <a:chExt cx="8134147" cy="1271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5F9BE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35402" y="716871"/>
            <a:ext cx="13726725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5B44A"/>
                </a:solidFill>
                <a:latin typeface="Consolas Bold"/>
                <a:ea typeface="Consolas Bold"/>
                <a:cs typeface="Consolas Bold"/>
                <a:sym typeface="Consolas Bold"/>
              </a:rPr>
              <a:t>ATT&amp;CK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5402" y="1225877"/>
            <a:ext cx="15785735" cy="1244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E8E6F0"/>
                </a:solidFill>
                <a:latin typeface="Georgia Bold"/>
                <a:ea typeface="Georgia Bold"/>
                <a:cs typeface="Georgia Bold"/>
                <a:sym typeface="Georgia Bold"/>
              </a:rPr>
              <a:t>MITRE reference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5402" y="2482291"/>
            <a:ext cx="15785735" cy="1429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2026">
                <a:solidFill>
                  <a:srgbClr val="9A97B0"/>
                </a:solidFill>
                <a:latin typeface="Trebuchet MS"/>
                <a:ea typeface="Trebuchet MS"/>
                <a:cs typeface="Trebuchet MS"/>
                <a:sym typeface="Trebuchet MS"/>
              </a:rPr>
              <a:t>Libreria di riferimento con le tecniche MITRE ATT&amp;CK organizzate per fase, con tattica ufficiale,</a:t>
            </a:r>
          </a:p>
          <a:p>
            <a:pPr algn="l">
              <a:lnSpc>
                <a:spcPts val="2918"/>
              </a:lnSpc>
            </a:pPr>
            <a:r>
              <a:rPr lang="en-US" sz="2026">
                <a:solidFill>
                  <a:srgbClr val="9A97B0"/>
                </a:solidFill>
                <a:latin typeface="Trebuchet MS"/>
                <a:ea typeface="Trebuchet MS"/>
                <a:cs typeface="Trebuchet MS"/>
                <a:sym typeface="Trebuchet MS"/>
              </a:rPr>
              <a:t>tool e comando. Ricerca globale e possibilità di aggiungere tecniche e comandi personalizzati.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055963" y="4012206"/>
            <a:ext cx="12185790" cy="5839577"/>
            <a:chOff x="0" y="0"/>
            <a:chExt cx="16247720" cy="77861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247745" cy="7786116"/>
            </a:xfrm>
            <a:custGeom>
              <a:avLst/>
              <a:gdLst/>
              <a:ahLst/>
              <a:cxnLst/>
              <a:rect r="r" b="b" t="t" l="l"/>
              <a:pathLst>
                <a:path h="7786116" w="16247745">
                  <a:moveTo>
                    <a:pt x="0" y="0"/>
                  </a:moveTo>
                  <a:lnTo>
                    <a:pt x="16247745" y="0"/>
                  </a:lnTo>
                  <a:lnTo>
                    <a:pt x="16247745" y="7786116"/>
                  </a:lnTo>
                  <a:lnTo>
                    <a:pt x="0" y="7786116"/>
                  </a:lnTo>
                  <a:close/>
                </a:path>
              </a:pathLst>
            </a:custGeom>
            <a:solidFill>
              <a:srgbClr val="1A1A26"/>
            </a:solidFill>
            <a:ln w="28597" cap="sq">
              <a:solidFill>
                <a:srgbClr val="8B6CF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3093139" y="4049382"/>
            <a:ext cx="12111438" cy="5765225"/>
            <a:chOff x="0" y="0"/>
            <a:chExt cx="16148583" cy="7686967"/>
          </a:xfrm>
        </p:grpSpPr>
        <p:sp>
          <p:nvSpPr>
            <p:cNvPr name="Freeform 14" id="14" descr="1791300433984_image.png"/>
            <p:cNvSpPr/>
            <p:nvPr/>
          </p:nvSpPr>
          <p:spPr>
            <a:xfrm flipH="false" flipV="false" rot="0">
              <a:off x="0" y="0"/>
              <a:ext cx="16148558" cy="7686929"/>
            </a:xfrm>
            <a:custGeom>
              <a:avLst/>
              <a:gdLst/>
              <a:ahLst/>
              <a:cxnLst/>
              <a:rect r="r" b="b" t="t" l="l"/>
              <a:pathLst>
                <a:path h="7686929" w="16148558">
                  <a:moveTo>
                    <a:pt x="0" y="0"/>
                  </a:moveTo>
                  <a:lnTo>
                    <a:pt x="16148558" y="0"/>
                  </a:lnTo>
                  <a:lnTo>
                    <a:pt x="16148558" y="7686929"/>
                  </a:lnTo>
                  <a:lnTo>
                    <a:pt x="0" y="7686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100610" cy="95326"/>
            <a:chOff x="0" y="0"/>
            <a:chExt cx="8134147" cy="1271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00610" y="0"/>
            <a:ext cx="6100610" cy="95326"/>
            <a:chOff x="0" y="0"/>
            <a:chExt cx="8134147" cy="1271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8B6C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201230" y="0"/>
            <a:ext cx="6100610" cy="95326"/>
            <a:chOff x="0" y="0"/>
            <a:chExt cx="8134147" cy="1271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5F9BE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35402" y="716871"/>
            <a:ext cx="13726725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4ADE9A"/>
                </a:solidFill>
                <a:latin typeface="Consolas Bold"/>
                <a:ea typeface="Consolas Bold"/>
                <a:cs typeface="Consolas Bold"/>
                <a:sym typeface="Consolas Bold"/>
              </a:rPr>
              <a:t>GUIDE MODE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5402" y="1225877"/>
            <a:ext cx="15785735" cy="1244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E8E6F0"/>
                </a:solidFill>
                <a:latin typeface="Georgia Bold"/>
                <a:ea typeface="Georgia Bold"/>
                <a:cs typeface="Georgia Bold"/>
                <a:sym typeface="Georgia Bold"/>
              </a:rPr>
              <a:t>Guida interattiva integrata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5402" y="2482291"/>
            <a:ext cx="15785735" cy="1429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2026">
                <a:solidFill>
                  <a:srgbClr val="9A97B0"/>
                </a:solidFill>
                <a:latin typeface="Trebuchet MS"/>
                <a:ea typeface="Trebuchet MS"/>
                <a:cs typeface="Trebuchet MS"/>
                <a:sym typeface="Trebuchet MS"/>
              </a:rPr>
              <a:t>Attivabile in qualsiasi sezione: evidenzia gli elementi interattivi con un indicatore e mostra,</a:t>
            </a:r>
          </a:p>
          <a:p>
            <a:pPr algn="l">
              <a:lnSpc>
                <a:spcPts val="2918"/>
              </a:lnSpc>
            </a:pPr>
            <a:r>
              <a:rPr lang="en-US" sz="2026">
                <a:solidFill>
                  <a:srgbClr val="9A97B0"/>
                </a:solidFill>
                <a:latin typeface="Trebuchet MS"/>
                <a:ea typeface="Trebuchet MS"/>
                <a:cs typeface="Trebuchet MS"/>
                <a:sym typeface="Trebuchet MS"/>
              </a:rPr>
              <a:t>al click, una breve descrizione di cosa fa ciascuno — onboarding senza uscire dalla piattaforma.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058839" y="4012206"/>
            <a:ext cx="12180046" cy="5839577"/>
            <a:chOff x="0" y="0"/>
            <a:chExt cx="16240061" cy="77861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239998" cy="7786116"/>
            </a:xfrm>
            <a:custGeom>
              <a:avLst/>
              <a:gdLst/>
              <a:ahLst/>
              <a:cxnLst/>
              <a:rect r="r" b="b" t="t" l="l"/>
              <a:pathLst>
                <a:path h="7786116" w="16239998">
                  <a:moveTo>
                    <a:pt x="0" y="0"/>
                  </a:moveTo>
                  <a:lnTo>
                    <a:pt x="16239998" y="0"/>
                  </a:lnTo>
                  <a:lnTo>
                    <a:pt x="16239998" y="7786116"/>
                  </a:lnTo>
                  <a:lnTo>
                    <a:pt x="0" y="7786116"/>
                  </a:lnTo>
                  <a:close/>
                </a:path>
              </a:pathLst>
            </a:custGeom>
            <a:solidFill>
              <a:srgbClr val="1A1A26"/>
            </a:solidFill>
            <a:ln w="28597" cap="sq">
              <a:solidFill>
                <a:srgbClr val="8B6CF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3096016" y="4049382"/>
            <a:ext cx="12105694" cy="5765225"/>
            <a:chOff x="0" y="0"/>
            <a:chExt cx="16140925" cy="7686967"/>
          </a:xfrm>
        </p:grpSpPr>
        <p:sp>
          <p:nvSpPr>
            <p:cNvPr name="Freeform 14" id="14" descr="1791300653563_image.png"/>
            <p:cNvSpPr/>
            <p:nvPr/>
          </p:nvSpPr>
          <p:spPr>
            <a:xfrm flipH="false" flipV="false" rot="0">
              <a:off x="0" y="0"/>
              <a:ext cx="16140937" cy="7686929"/>
            </a:xfrm>
            <a:custGeom>
              <a:avLst/>
              <a:gdLst/>
              <a:ahLst/>
              <a:cxnLst/>
              <a:rect r="r" b="b" t="t" l="l"/>
              <a:pathLst>
                <a:path h="7686929" w="16140937">
                  <a:moveTo>
                    <a:pt x="0" y="0"/>
                  </a:moveTo>
                  <a:lnTo>
                    <a:pt x="16140937" y="0"/>
                  </a:lnTo>
                  <a:lnTo>
                    <a:pt x="16140937" y="7686929"/>
                  </a:lnTo>
                  <a:lnTo>
                    <a:pt x="0" y="7686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100610" cy="95326"/>
            <a:chOff x="0" y="0"/>
            <a:chExt cx="8134147" cy="1271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00610" y="0"/>
            <a:ext cx="6100610" cy="95326"/>
            <a:chOff x="0" y="0"/>
            <a:chExt cx="8134147" cy="1271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8B6C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201230" y="0"/>
            <a:ext cx="6100610" cy="95326"/>
            <a:chOff x="0" y="0"/>
            <a:chExt cx="8134147" cy="1271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5F9BE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35402" y="716871"/>
            <a:ext cx="13726725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A78BFA"/>
                </a:solidFill>
                <a:latin typeface="Consolas Bold"/>
                <a:ea typeface="Consolas Bold"/>
                <a:cs typeface="Consolas Bold"/>
                <a:sym typeface="Consolas Bold"/>
              </a:rPr>
              <a:t>PURPLE · REPORT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5402" y="1225877"/>
            <a:ext cx="15785735" cy="1244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E8E6F0"/>
                </a:solidFill>
                <a:latin typeface="Georgia Bold"/>
                <a:ea typeface="Georgia Bold"/>
                <a:cs typeface="Georgia Bold"/>
                <a:sym typeface="Georgia Bold"/>
              </a:rPr>
              <a:t>Report generato dall'AI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98226" y="2878474"/>
            <a:ext cx="6937715" cy="6459836"/>
            <a:chOff x="0" y="0"/>
            <a:chExt cx="9250286" cy="86131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250299" cy="8613140"/>
            </a:xfrm>
            <a:custGeom>
              <a:avLst/>
              <a:gdLst/>
              <a:ahLst/>
              <a:cxnLst/>
              <a:rect r="r" b="b" t="t" l="l"/>
              <a:pathLst>
                <a:path h="8613140" w="9250299">
                  <a:moveTo>
                    <a:pt x="0" y="0"/>
                  </a:moveTo>
                  <a:lnTo>
                    <a:pt x="9250299" y="0"/>
                  </a:lnTo>
                  <a:lnTo>
                    <a:pt x="9250299" y="8613140"/>
                  </a:lnTo>
                  <a:lnTo>
                    <a:pt x="0" y="8613140"/>
                  </a:lnTo>
                  <a:close/>
                </a:path>
              </a:pathLst>
            </a:custGeom>
            <a:solidFill>
              <a:srgbClr val="1A1A26"/>
            </a:solidFill>
            <a:ln w="28597" cap="sq">
              <a:solidFill>
                <a:srgbClr val="8B6CF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35402" y="2915650"/>
            <a:ext cx="6863363" cy="6385484"/>
            <a:chOff x="0" y="0"/>
            <a:chExt cx="9151150" cy="8513978"/>
          </a:xfrm>
        </p:grpSpPr>
        <p:sp>
          <p:nvSpPr>
            <p:cNvPr name="Freeform 13" id="13" descr="1791300267825_image.png"/>
            <p:cNvSpPr/>
            <p:nvPr/>
          </p:nvSpPr>
          <p:spPr>
            <a:xfrm flipH="false" flipV="false" rot="0">
              <a:off x="0" y="0"/>
              <a:ext cx="9151112" cy="8513953"/>
            </a:xfrm>
            <a:custGeom>
              <a:avLst/>
              <a:gdLst/>
              <a:ahLst/>
              <a:cxnLst/>
              <a:rect r="r" b="b" t="t" l="l"/>
              <a:pathLst>
                <a:path h="8513953" w="9151112">
                  <a:moveTo>
                    <a:pt x="0" y="0"/>
                  </a:moveTo>
                  <a:lnTo>
                    <a:pt x="9151112" y="0"/>
                  </a:lnTo>
                  <a:lnTo>
                    <a:pt x="9151112" y="8513953"/>
                  </a:lnTo>
                  <a:lnTo>
                    <a:pt x="0" y="8513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647833" y="2875045"/>
            <a:ext cx="8373304" cy="6390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9A97B0"/>
                </a:solidFill>
                <a:latin typeface="Trebuchet MS"/>
                <a:ea typeface="Trebuchet MS"/>
                <a:cs typeface="Trebuchet MS"/>
                <a:sym typeface="Trebuchet MS"/>
              </a:rPr>
              <a:t>Dai dati dell'engagement l'AI redige un report professionale:</a:t>
            </a:r>
          </a:p>
          <a:p>
            <a:pPr algn="l">
              <a:lnSpc>
                <a:spcPts val="1351"/>
              </a:lnSpc>
            </a:pPr>
          </a:p>
          <a:p>
            <a:pPr algn="l">
              <a:lnSpc>
                <a:spcPts val="3152"/>
              </a:lnSpc>
            </a:pPr>
            <a:r>
              <a:rPr lang="en-US" sz="2101" b="true">
                <a:solidFill>
                  <a:srgbClr val="E8E6F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•  Executive summary</a:t>
            </a:r>
          </a:p>
          <a:p>
            <a:pPr algn="l">
              <a:lnSpc>
                <a:spcPts val="3152"/>
              </a:lnSpc>
            </a:pPr>
            <a:r>
              <a:rPr lang="en-US" sz="2101" b="true">
                <a:solidFill>
                  <a:srgbClr val="E8E6F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•  Metodologia e scope</a:t>
            </a:r>
          </a:p>
          <a:p>
            <a:pPr algn="l">
              <a:lnSpc>
                <a:spcPts val="3152"/>
              </a:lnSpc>
            </a:pPr>
            <a:r>
              <a:rPr lang="en-US" sz="2101" b="true">
                <a:solidFill>
                  <a:srgbClr val="E8E6F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•  Finding per severità</a:t>
            </a:r>
          </a:p>
          <a:p>
            <a:pPr algn="l">
              <a:lnSpc>
                <a:spcPts val="3152"/>
              </a:lnSpc>
            </a:pPr>
            <a:r>
              <a:rPr lang="en-US" sz="2101" b="true">
                <a:solidFill>
                  <a:srgbClr val="E8E6F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•  Attacchi eseguiti e detection</a:t>
            </a:r>
          </a:p>
          <a:p>
            <a:pPr algn="l">
              <a:lnSpc>
                <a:spcPts val="3152"/>
              </a:lnSpc>
            </a:pPr>
            <a:r>
              <a:rPr lang="en-US" sz="2101" b="true">
                <a:solidFill>
                  <a:srgbClr val="E8E6F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•  Gap di detection identificati</a:t>
            </a:r>
          </a:p>
          <a:p>
            <a:pPr algn="l">
              <a:lnSpc>
                <a:spcPts val="3152"/>
              </a:lnSpc>
            </a:pPr>
            <a:r>
              <a:rPr lang="en-US" sz="2101" b="true">
                <a:solidFill>
                  <a:srgbClr val="E8E6F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•  Raccomandazioni prioritarie</a:t>
            </a:r>
          </a:p>
          <a:p>
            <a:pPr algn="l">
              <a:lnSpc>
                <a:spcPts val="1801"/>
              </a:lnSpc>
            </a:pPr>
          </a:p>
          <a:p>
            <a:pPr algn="l">
              <a:lnSpc>
                <a:spcPts val="2814"/>
              </a:lnSpc>
            </a:pPr>
            <a:r>
              <a:rPr lang="en-US" sz="1876">
                <a:solidFill>
                  <a:srgbClr val="9A97B0"/>
                </a:solidFill>
                <a:latin typeface="Trebuchet MS"/>
                <a:ea typeface="Trebuchet MS"/>
                <a:cs typeface="Trebuchet MS"/>
                <a:sym typeface="Trebuchet MS"/>
              </a:rPr>
              <a:t>Scaricabile in Markdown o testo. I dati provengono dal database, la narrativa che li spiega è generata dal modello.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100610" cy="95326"/>
            <a:chOff x="0" y="0"/>
            <a:chExt cx="8134147" cy="1271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00610" y="0"/>
            <a:ext cx="6100610" cy="95326"/>
            <a:chOff x="0" y="0"/>
            <a:chExt cx="8134147" cy="1271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8B6C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201230" y="0"/>
            <a:ext cx="6100610" cy="95326"/>
            <a:chOff x="0" y="0"/>
            <a:chExt cx="8134147" cy="1271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34096" cy="127127"/>
            </a:xfrm>
            <a:custGeom>
              <a:avLst/>
              <a:gdLst/>
              <a:ahLst/>
              <a:cxnLst/>
              <a:rect r="r" b="b" t="t" l="l"/>
              <a:pathLst>
                <a:path h="127127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5F9BE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35402" y="716871"/>
            <a:ext cx="13726725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A78BFA"/>
                </a:solidFill>
                <a:latin typeface="Consolas Bold"/>
                <a:ea typeface="Consolas Bold"/>
                <a:cs typeface="Consolas Bold"/>
                <a:sym typeface="Consolas Bold"/>
              </a:rPr>
              <a:t>ASSISTENTE AI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5402" y="1225877"/>
            <a:ext cx="15785735" cy="1244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E8E6F0"/>
                </a:solidFill>
                <a:latin typeface="Georgia Bold"/>
                <a:ea typeface="Georgia Bold"/>
                <a:cs typeface="Georgia Bold"/>
                <a:sym typeface="Georgia Bold"/>
              </a:rPr>
              <a:t>Chat contestuale in ogni sezione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5402" y="2482291"/>
            <a:ext cx="15785735" cy="1429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2026">
                <a:solidFill>
                  <a:srgbClr val="9A97B0"/>
                </a:solidFill>
                <a:latin typeface="Trebuchet MS"/>
                <a:ea typeface="Trebuchet MS"/>
                <a:cs typeface="Trebuchet MS"/>
                <a:sym typeface="Trebuchet MS"/>
              </a:rPr>
              <a:t>La chat conosce il contesto della sezione (fase, box type, attacco, metriche) e, operando in un</a:t>
            </a:r>
          </a:p>
          <a:p>
            <a:pPr algn="l">
              <a:lnSpc>
                <a:spcPts val="2918"/>
              </a:lnSpc>
            </a:pPr>
            <a:r>
              <a:rPr lang="en-US" sz="2026">
                <a:solidFill>
                  <a:srgbClr val="9A97B0"/>
                </a:solidFill>
                <a:latin typeface="Trebuchet MS"/>
                <a:ea typeface="Trebuchet MS"/>
                <a:cs typeface="Trebuchet MS"/>
                <a:sym typeface="Trebuchet MS"/>
              </a:rPr>
              <a:t>ambito autorizzato, può suggerire tool, comandi e procedure offensive e difensive concrete.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094272" y="4012206"/>
            <a:ext cx="12109180" cy="5839577"/>
            <a:chOff x="0" y="0"/>
            <a:chExt cx="16145574" cy="77861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145511" cy="7786116"/>
            </a:xfrm>
            <a:custGeom>
              <a:avLst/>
              <a:gdLst/>
              <a:ahLst/>
              <a:cxnLst/>
              <a:rect r="r" b="b" t="t" l="l"/>
              <a:pathLst>
                <a:path h="7786116" w="16145511">
                  <a:moveTo>
                    <a:pt x="0" y="0"/>
                  </a:moveTo>
                  <a:lnTo>
                    <a:pt x="16145511" y="0"/>
                  </a:lnTo>
                  <a:lnTo>
                    <a:pt x="16145511" y="7786116"/>
                  </a:lnTo>
                  <a:lnTo>
                    <a:pt x="0" y="7786116"/>
                  </a:lnTo>
                  <a:close/>
                </a:path>
              </a:pathLst>
            </a:custGeom>
            <a:solidFill>
              <a:srgbClr val="1A1A26"/>
            </a:solidFill>
            <a:ln w="28597" cap="sq">
              <a:solidFill>
                <a:srgbClr val="8B6CF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3131449" y="4049382"/>
            <a:ext cx="12034828" cy="5765225"/>
            <a:chOff x="0" y="0"/>
            <a:chExt cx="16046437" cy="7686967"/>
          </a:xfrm>
        </p:grpSpPr>
        <p:sp>
          <p:nvSpPr>
            <p:cNvPr name="Freeform 14" id="14" descr="1791300917214_image.png"/>
            <p:cNvSpPr/>
            <p:nvPr/>
          </p:nvSpPr>
          <p:spPr>
            <a:xfrm flipH="false" flipV="false" rot="0">
              <a:off x="0" y="0"/>
              <a:ext cx="16046450" cy="7686929"/>
            </a:xfrm>
            <a:custGeom>
              <a:avLst/>
              <a:gdLst/>
              <a:ahLst/>
              <a:cxnLst/>
              <a:rect r="r" b="b" t="t" l="l"/>
              <a:pathLst>
                <a:path h="7686929" w="16046450">
                  <a:moveTo>
                    <a:pt x="0" y="0"/>
                  </a:moveTo>
                  <a:lnTo>
                    <a:pt x="16046450" y="0"/>
                  </a:lnTo>
                  <a:lnTo>
                    <a:pt x="16046450" y="7686929"/>
                  </a:lnTo>
                  <a:lnTo>
                    <a:pt x="0" y="7686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DAHXQlQOD3s</dc:identifier>
  <dcterms:modified xsi:type="dcterms:W3CDTF">2011-08-01T06:04:30Z</dcterms:modified>
  <cp:revision>1</cp:revision>
  <dc:title>PurpleManager_Presentazione.pptx</dc:title>
</cp:coreProperties>
</file>